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Urbanist Medium"/>
      <p:regular r:id="rId24"/>
      <p:bold r:id="rId25"/>
      <p:italic r:id="rId26"/>
      <p:boldItalic r:id="rId27"/>
    </p:embeddedFont>
    <p:embeddedFont>
      <p:font typeface="Urbanist SemiBold"/>
      <p:regular r:id="rId28"/>
      <p:bold r:id="rId29"/>
      <p:italic r:id="rId30"/>
      <p:boldItalic r:id="rId31"/>
    </p:embeddedFont>
    <p:embeddedFont>
      <p:font typeface="Urbanis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UrbanistMedium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SemiBold-regular.fntdata"/><Relationship Id="rId27" Type="http://schemas.openxmlformats.org/officeDocument/2006/relationships/font" Target="fonts/Urbanis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boldItalic.fntdata"/><Relationship Id="rId30" Type="http://schemas.openxmlformats.org/officeDocument/2006/relationships/font" Target="fonts/UrbanistSemiBold-italic.fntdata"/><Relationship Id="rId11" Type="http://schemas.openxmlformats.org/officeDocument/2006/relationships/slide" Target="slides/slide6.xml"/><Relationship Id="rId33" Type="http://schemas.openxmlformats.org/officeDocument/2006/relationships/font" Target="fonts/Urbanist-bold.fntdata"/><Relationship Id="rId10" Type="http://schemas.openxmlformats.org/officeDocument/2006/relationships/slide" Target="slides/slide5.xml"/><Relationship Id="rId32" Type="http://schemas.openxmlformats.org/officeDocument/2006/relationships/font" Target="fonts/Urbanist-regular.fntdata"/><Relationship Id="rId13" Type="http://schemas.openxmlformats.org/officeDocument/2006/relationships/slide" Target="slides/slide8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34" Type="http://schemas.openxmlformats.org/officeDocument/2006/relationships/font" Target="fonts/Urbanist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72c43b5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72c43b5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72c43b522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c72c43b522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72c43b522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c72c43b522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72c43b522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72c43b522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72c43b522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c72c43b522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72c43b522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c72c43b522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72c43b522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c72c43b522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72c43b522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c72c43b522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72c43b522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c72c43b522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c72c43b522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c72c43b522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c72c43b522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c72c43b522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e60fb37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be60fb37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e60fb37f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be60fb37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c72c43b522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c72c43b522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be60fb37f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be60fb37f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c77180ca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c77180ca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77180ca1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c77180ca1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c77180ca1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c77180ca1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havelli.com/portfolio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havelli.com/portfoli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in.it/iOb6BKTCj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8" name="Google Shape;438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39" name="Google Shape;439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0" name="Google Shape;440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1" name="Google Shape;441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" name="Google Shape;442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3" name="Google Shape;443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Midterm</a:t>
            </a:r>
            <a:r>
              <a:rPr lang="en">
                <a:solidFill>
                  <a:schemeClr val="lt1"/>
                </a:solidFill>
              </a:rPr>
              <a:t> Project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- -</a:t>
            </a:r>
            <a:r>
              <a:rPr lang="en">
                <a:solidFill>
                  <a:schemeClr val="lt1"/>
                </a:solidFill>
              </a:rPr>
              <a:t>Proposal Presentation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4" name="Google Shape;444;p41"/>
          <p:cNvSpPr txBox="1"/>
          <p:nvPr>
            <p:ph idx="1" type="subTitle"/>
          </p:nvPr>
        </p:nvSpPr>
        <p:spPr>
          <a:xfrm>
            <a:off x="228600" y="1738950"/>
            <a:ext cx="5565600" cy="380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NYU Tandon IDM Web Development Spring 2026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5" name="Google Shape;445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446" name="Google Shape;446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447" name="Google Shape;447;p4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48" name="Google Shape;448;p4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Ding. Andy</a:t>
            </a:r>
            <a:endParaRPr sz="1600"/>
          </a:p>
        </p:txBody>
      </p:sp>
      <p:sp>
        <p:nvSpPr>
          <p:cNvPr id="449" name="Google Shape;449;p4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 24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/>
          <p:nvPr/>
        </p:nvSpPr>
        <p:spPr>
          <a:xfrm>
            <a:off x="4571650" y="7239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4571650" y="14016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4571650" y="20794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8" name="Google Shape;458;p42"/>
          <p:cNvSpPr/>
          <p:nvPr/>
        </p:nvSpPr>
        <p:spPr>
          <a:xfrm>
            <a:off x="4571650" y="27572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9" name="Google Shape;459;p42"/>
          <p:cNvSpPr/>
          <p:nvPr/>
        </p:nvSpPr>
        <p:spPr>
          <a:xfrm>
            <a:off x="4571650" y="34350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60" name="Google Shape;460;p42"/>
          <p:cNvGrpSpPr/>
          <p:nvPr/>
        </p:nvGrpSpPr>
        <p:grpSpPr>
          <a:xfrm rot="-5400000">
            <a:off x="8509205" y="926075"/>
            <a:ext cx="204654" cy="204654"/>
            <a:chOff x="259788" y="1923155"/>
            <a:chExt cx="409800" cy="409800"/>
          </a:xfrm>
        </p:grpSpPr>
        <p:sp>
          <p:nvSpPr>
            <p:cNvPr id="461" name="Google Shape;461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2" name="Google Shape;462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3" name="Google Shape;463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" name="Google Shape;464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5" name="Google Shape;465;p42"/>
          <p:cNvGrpSpPr/>
          <p:nvPr/>
        </p:nvGrpSpPr>
        <p:grpSpPr>
          <a:xfrm rot="-5400000">
            <a:off x="8509205" y="1603860"/>
            <a:ext cx="204654" cy="204654"/>
            <a:chOff x="259788" y="1923155"/>
            <a:chExt cx="409800" cy="409800"/>
          </a:xfrm>
        </p:grpSpPr>
        <p:sp>
          <p:nvSpPr>
            <p:cNvPr id="466" name="Google Shape;466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7" name="Google Shape;467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8" name="Google Shape;468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" name="Google Shape;469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0" name="Google Shape;470;p42"/>
          <p:cNvGrpSpPr/>
          <p:nvPr/>
        </p:nvGrpSpPr>
        <p:grpSpPr>
          <a:xfrm rot="-5400000">
            <a:off x="8509205" y="2281645"/>
            <a:ext cx="204654" cy="204654"/>
            <a:chOff x="259788" y="1923155"/>
            <a:chExt cx="409800" cy="409800"/>
          </a:xfrm>
        </p:grpSpPr>
        <p:sp>
          <p:nvSpPr>
            <p:cNvPr id="471" name="Google Shape;471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2" name="Google Shape;472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3" name="Google Shape;473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5" name="Google Shape;475;p42"/>
          <p:cNvGrpSpPr/>
          <p:nvPr/>
        </p:nvGrpSpPr>
        <p:grpSpPr>
          <a:xfrm rot="-5400000">
            <a:off x="8509205" y="2959430"/>
            <a:ext cx="204654" cy="204654"/>
            <a:chOff x="259788" y="1923155"/>
            <a:chExt cx="409800" cy="409800"/>
          </a:xfrm>
        </p:grpSpPr>
        <p:sp>
          <p:nvSpPr>
            <p:cNvPr id="476" name="Google Shape;476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7" name="Google Shape;477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8" name="Google Shape;478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0" name="Google Shape;480;p42"/>
          <p:cNvGrpSpPr/>
          <p:nvPr/>
        </p:nvGrpSpPr>
        <p:grpSpPr>
          <a:xfrm rot="-5400000">
            <a:off x="8509205" y="3637215"/>
            <a:ext cx="204654" cy="204654"/>
            <a:chOff x="259788" y="1923155"/>
            <a:chExt cx="409800" cy="409800"/>
          </a:xfrm>
        </p:grpSpPr>
        <p:sp>
          <p:nvSpPr>
            <p:cNvPr id="481" name="Google Shape;481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2" name="Google Shape;482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3" name="Google Shape;483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5" name="Google Shape;485;p4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486" name="Google Shape;486;p4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487" name="Google Shape;487;p4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88" name="Google Shape;488;p42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89" name="Google Shape;489;p42"/>
          <p:cNvSpPr txBox="1"/>
          <p:nvPr>
            <p:ph idx="4" type="subTitle"/>
          </p:nvPr>
        </p:nvSpPr>
        <p:spPr>
          <a:xfrm>
            <a:off x="4697275" y="8824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90" name="Google Shape;490;p42"/>
          <p:cNvSpPr txBox="1"/>
          <p:nvPr>
            <p:ph idx="5" type="subTitle"/>
          </p:nvPr>
        </p:nvSpPr>
        <p:spPr>
          <a:xfrm>
            <a:off x="4697275" y="15593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91" name="Google Shape;491;p42"/>
          <p:cNvSpPr txBox="1"/>
          <p:nvPr>
            <p:ph idx="6" type="subTitle"/>
          </p:nvPr>
        </p:nvSpPr>
        <p:spPr>
          <a:xfrm>
            <a:off x="4697275" y="22363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2" name="Google Shape;492;p42"/>
          <p:cNvSpPr txBox="1"/>
          <p:nvPr>
            <p:ph idx="7" type="subTitle"/>
          </p:nvPr>
        </p:nvSpPr>
        <p:spPr>
          <a:xfrm>
            <a:off x="4697275" y="2917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93" name="Google Shape;493;p42"/>
          <p:cNvSpPr txBox="1"/>
          <p:nvPr>
            <p:ph idx="8" type="subTitle"/>
          </p:nvPr>
        </p:nvSpPr>
        <p:spPr>
          <a:xfrm>
            <a:off x="4697275" y="35919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94" name="Google Shape;494;p42"/>
          <p:cNvSpPr txBox="1"/>
          <p:nvPr>
            <p:ph idx="13" type="subTitle"/>
          </p:nvPr>
        </p:nvSpPr>
        <p:spPr>
          <a:xfrm>
            <a:off x="5019775" y="8824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/ Theme of the Site</a:t>
            </a:r>
            <a:endParaRPr/>
          </a:p>
        </p:txBody>
      </p:sp>
      <p:sp>
        <p:nvSpPr>
          <p:cNvPr id="495" name="Google Shape;495;p42"/>
          <p:cNvSpPr txBox="1"/>
          <p:nvPr>
            <p:ph idx="14" type="subTitle"/>
          </p:nvPr>
        </p:nvSpPr>
        <p:spPr>
          <a:xfrm>
            <a:off x="5019775" y="1559402"/>
            <a:ext cx="3694200" cy="33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Inspiration Website (Pinterest)</a:t>
            </a:r>
            <a:endParaRPr/>
          </a:p>
        </p:txBody>
      </p:sp>
      <p:sp>
        <p:nvSpPr>
          <p:cNvPr id="496" name="Google Shape;496;p42"/>
          <p:cNvSpPr txBox="1"/>
          <p:nvPr>
            <p:ph idx="15" type="subTitle"/>
          </p:nvPr>
        </p:nvSpPr>
        <p:spPr>
          <a:xfrm>
            <a:off x="5019775" y="22363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Concept / Skill - -COVERED</a:t>
            </a:r>
            <a:endParaRPr/>
          </a:p>
        </p:txBody>
      </p:sp>
      <p:sp>
        <p:nvSpPr>
          <p:cNvPr id="497" name="Google Shape;497;p42"/>
          <p:cNvSpPr txBox="1"/>
          <p:nvPr>
            <p:ph idx="16" type="subTitle"/>
          </p:nvPr>
        </p:nvSpPr>
        <p:spPr>
          <a:xfrm>
            <a:off x="5019775" y="2917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Concept / Skill - -STILL LEARN</a:t>
            </a:r>
            <a:endParaRPr/>
          </a:p>
        </p:txBody>
      </p:sp>
      <p:sp>
        <p:nvSpPr>
          <p:cNvPr id="498" name="Google Shape;498;p42"/>
          <p:cNvSpPr txBox="1"/>
          <p:nvPr>
            <p:ph idx="17" type="subTitle"/>
          </p:nvPr>
        </p:nvSpPr>
        <p:spPr>
          <a:xfrm>
            <a:off x="5019775" y="35919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Wireframe &amp; Sitemap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03" name="Google Shape;503;p43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3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PART 1: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Concept / Theme of the Site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05" name="Google Shape;505;p4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06" name="Google Shape;506;p4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07" name="Google Shape;507;p43"/>
          <p:cNvSpPr txBox="1"/>
          <p:nvPr>
            <p:ph idx="1" type="subTitle"/>
          </p:nvPr>
        </p:nvSpPr>
        <p:spPr>
          <a:xfrm>
            <a:off x="235575" y="228600"/>
            <a:ext cx="42159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Midterm Project - - Proposal Presentation</a:t>
            </a:r>
            <a:endParaRPr/>
          </a:p>
        </p:txBody>
      </p:sp>
      <p:sp>
        <p:nvSpPr>
          <p:cNvPr id="508" name="Google Shape;508;p4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4"/>
          <p:cNvSpPr txBox="1"/>
          <p:nvPr>
            <p:ph type="title"/>
          </p:nvPr>
        </p:nvSpPr>
        <p:spPr>
          <a:xfrm>
            <a:off x="228600" y="23475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/ Theme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the Site</a:t>
            </a:r>
            <a:endParaRPr/>
          </a:p>
        </p:txBody>
      </p:sp>
      <p:sp>
        <p:nvSpPr>
          <p:cNvPr id="514" name="Google Shape;514;p4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15" name="Google Shape;515;p4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16" name="Google Shape;516;p44"/>
          <p:cNvSpPr txBox="1"/>
          <p:nvPr>
            <p:ph idx="9" type="subTitle"/>
          </p:nvPr>
        </p:nvSpPr>
        <p:spPr>
          <a:xfrm>
            <a:off x="2215900" y="1639650"/>
            <a:ext cx="6356700" cy="93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A minimalist and elegant digital portfolio showcasing my </a:t>
            </a:r>
            <a:r>
              <a:rPr lang="en" sz="1800">
                <a:solidFill>
                  <a:srgbClr val="FF0000"/>
                </a:solidFill>
              </a:rPr>
              <a:t>calligraphy</a:t>
            </a:r>
            <a:r>
              <a:rPr lang="en" sz="1800"/>
              <a:t> practice, philosophy, tools, and selected works.</a:t>
            </a:r>
            <a:endParaRPr sz="1800"/>
          </a:p>
        </p:txBody>
      </p:sp>
      <p:sp>
        <p:nvSpPr>
          <p:cNvPr id="517" name="Google Shape;517;p44"/>
          <p:cNvSpPr txBox="1"/>
          <p:nvPr>
            <p:ph idx="8" type="subTitle"/>
          </p:nvPr>
        </p:nvSpPr>
        <p:spPr>
          <a:xfrm>
            <a:off x="889100" y="1707293"/>
            <a:ext cx="1287900" cy="398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Urbanist"/>
                <a:ea typeface="Urbanist"/>
                <a:cs typeface="Urbanist"/>
                <a:sym typeface="Urbanist"/>
              </a:rPr>
              <a:t>Theme:</a:t>
            </a:r>
            <a:endParaRPr b="1" sz="24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8" name="Google Shape;518;p4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519" name="Google Shape;519;p44"/>
          <p:cNvSpPr txBox="1"/>
          <p:nvPr>
            <p:ph idx="9" type="subTitle"/>
          </p:nvPr>
        </p:nvSpPr>
        <p:spPr>
          <a:xfrm>
            <a:off x="2215900" y="2874050"/>
            <a:ext cx="6356700" cy="1289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Clean, simple, </a:t>
            </a:r>
            <a:r>
              <a:rPr lang="en" sz="1800">
                <a:solidFill>
                  <a:srgbClr val="FF0000"/>
                </a:solidFill>
              </a:rPr>
              <a:t>white-and-black</a:t>
            </a:r>
            <a:r>
              <a:rPr lang="en" sz="1800"/>
              <a:t> layout inspired by the aesthetics of rice paper, ink, and brush strokes. The site should feel calm, artistic, and meditative—like stepping into a calligraphy studio.</a:t>
            </a:r>
            <a:endParaRPr sz="1800"/>
          </a:p>
        </p:txBody>
      </p:sp>
      <p:sp>
        <p:nvSpPr>
          <p:cNvPr id="520" name="Google Shape;520;p44"/>
          <p:cNvSpPr txBox="1"/>
          <p:nvPr>
            <p:ph idx="8" type="subTitle"/>
          </p:nvPr>
        </p:nvSpPr>
        <p:spPr>
          <a:xfrm>
            <a:off x="889100" y="3132926"/>
            <a:ext cx="1764300" cy="499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Urbanist"/>
                <a:ea typeface="Urbanist"/>
                <a:cs typeface="Urbanist"/>
                <a:sym typeface="Urbanist"/>
              </a:rPr>
              <a:t>Visual Concept:</a:t>
            </a:r>
            <a:endParaRPr b="1" sz="24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5"/>
          <p:cNvSpPr txBox="1"/>
          <p:nvPr>
            <p:ph type="title"/>
          </p:nvPr>
        </p:nvSpPr>
        <p:spPr>
          <a:xfrm>
            <a:off x="228600" y="23475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/ Theme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the Site</a:t>
            </a:r>
            <a:endParaRPr/>
          </a:p>
        </p:txBody>
      </p:sp>
      <p:sp>
        <p:nvSpPr>
          <p:cNvPr id="526" name="Google Shape;526;p4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27" name="Google Shape;527;p4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28" name="Google Shape;528;p45"/>
          <p:cNvSpPr txBox="1"/>
          <p:nvPr>
            <p:ph idx="9" type="subTitle"/>
          </p:nvPr>
        </p:nvSpPr>
        <p:spPr>
          <a:xfrm>
            <a:off x="2329800" y="1641650"/>
            <a:ext cx="6814200" cy="2466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@ My calligraphy journey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@ A gallery of brush, ink, and experimental works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@ The meaning and inspiration behind each piece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@ A short artist bio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@ A section explaining techniques and tools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@ A contact form for collaborations</a:t>
            </a:r>
            <a:endParaRPr sz="2200"/>
          </a:p>
        </p:txBody>
      </p:sp>
      <p:sp>
        <p:nvSpPr>
          <p:cNvPr id="529" name="Google Shape;529;p45"/>
          <p:cNvSpPr txBox="1"/>
          <p:nvPr>
            <p:ph idx="8" type="subTitle"/>
          </p:nvPr>
        </p:nvSpPr>
        <p:spPr>
          <a:xfrm>
            <a:off x="791900" y="2012750"/>
            <a:ext cx="1482300" cy="1486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Urbanist"/>
                <a:ea typeface="Urbanist"/>
                <a:cs typeface="Urbanist"/>
                <a:sym typeface="Urbanist"/>
              </a:rPr>
              <a:t>The Website will Present:</a:t>
            </a:r>
            <a:endParaRPr b="1" sz="27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0" name="Google Shape;530;p4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NYU TANDON IDM WEBDEV_SPRING 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35" name="Google Shape;535;p46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6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PART 2: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Inspiration Website (Pinterest)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37" name="Google Shape;537;p4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38" name="Google Shape;538;p46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39" name="Google Shape;539;p46"/>
          <p:cNvSpPr txBox="1"/>
          <p:nvPr>
            <p:ph idx="1" type="subTitle"/>
          </p:nvPr>
        </p:nvSpPr>
        <p:spPr>
          <a:xfrm>
            <a:off x="235575" y="228600"/>
            <a:ext cx="42159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Midterm Project - - Proposal Presentation</a:t>
            </a:r>
            <a:endParaRPr/>
          </a:p>
        </p:txBody>
      </p:sp>
      <p:sp>
        <p:nvSpPr>
          <p:cNvPr id="540" name="Google Shape;540;p4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46" name="Google Shape;546;p4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47" name="Google Shape;547;p47"/>
          <p:cNvSpPr txBox="1"/>
          <p:nvPr>
            <p:ph type="title"/>
          </p:nvPr>
        </p:nvSpPr>
        <p:spPr>
          <a:xfrm>
            <a:off x="228600" y="228598"/>
            <a:ext cx="3655800" cy="917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Inspiration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Website</a:t>
            </a:r>
            <a:endParaRPr sz="2800"/>
          </a:p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228600" y="1420200"/>
            <a:ext cx="3926400" cy="38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https://chavelli.com/portfolio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grpSp>
        <p:nvGrpSpPr>
          <p:cNvPr id="549" name="Google Shape;549;p47"/>
          <p:cNvGrpSpPr/>
          <p:nvPr/>
        </p:nvGrpSpPr>
        <p:grpSpPr>
          <a:xfrm rot="5400000">
            <a:off x="228613" y="1090716"/>
            <a:ext cx="228589" cy="228623"/>
            <a:chOff x="1688332" y="4135245"/>
            <a:chExt cx="338700" cy="338700"/>
          </a:xfrm>
        </p:grpSpPr>
        <p:sp>
          <p:nvSpPr>
            <p:cNvPr id="550" name="Google Shape;550;p47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51" name="Google Shape;551;p47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52" name="Google Shape;552;p4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" name="Google Shape;553;p4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54" name="Google Shape;554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555" name="Google Shape;555;p47"/>
          <p:cNvSpPr txBox="1"/>
          <p:nvPr>
            <p:ph idx="4294967295" type="subTitle"/>
          </p:nvPr>
        </p:nvSpPr>
        <p:spPr>
          <a:xfrm>
            <a:off x="1822950" y="521025"/>
            <a:ext cx="54981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</a:rPr>
              <a:t>Studio Chavelli</a:t>
            </a:r>
            <a:endParaRPr b="1" sz="24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</a:rPr>
              <a:t>Calligraphy &amp; Design Website</a:t>
            </a:r>
            <a:endParaRPr b="1" sz="2400">
              <a:solidFill>
                <a:schemeClr val="accent3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47"/>
          <p:cNvSpPr txBox="1"/>
          <p:nvPr>
            <p:ph idx="1" type="subTitle"/>
          </p:nvPr>
        </p:nvSpPr>
        <p:spPr>
          <a:xfrm>
            <a:off x="890400" y="2053675"/>
            <a:ext cx="7363200" cy="189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>
                <a:solidFill>
                  <a:schemeClr val="dk2"/>
                </a:solidFill>
              </a:rPr>
              <a:t>This is the official website of a professional calligrapher and lettering designer. The layout is clean and elegant, combining text and imagery in a balanced way. The site highlights the artist’s personal style, service offerings, and selected works with strong visual storytelling.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62" name="Google Shape;562;p4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63" name="Google Shape;563;p48"/>
          <p:cNvSpPr txBox="1"/>
          <p:nvPr>
            <p:ph type="title"/>
          </p:nvPr>
        </p:nvSpPr>
        <p:spPr>
          <a:xfrm>
            <a:off x="228600" y="228598"/>
            <a:ext cx="3655800" cy="917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Inspiration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Website</a:t>
            </a:r>
            <a:endParaRPr sz="2800"/>
          </a:p>
        </p:txBody>
      </p:sp>
      <p:sp>
        <p:nvSpPr>
          <p:cNvPr id="564" name="Google Shape;564;p48"/>
          <p:cNvSpPr txBox="1"/>
          <p:nvPr>
            <p:ph idx="1" type="subTitle"/>
          </p:nvPr>
        </p:nvSpPr>
        <p:spPr>
          <a:xfrm>
            <a:off x="228600" y="1420200"/>
            <a:ext cx="3926400" cy="38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https://chavelli.com/portfolio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grpSp>
        <p:nvGrpSpPr>
          <p:cNvPr id="565" name="Google Shape;565;p48"/>
          <p:cNvGrpSpPr/>
          <p:nvPr/>
        </p:nvGrpSpPr>
        <p:grpSpPr>
          <a:xfrm rot="5400000">
            <a:off x="228613" y="1090716"/>
            <a:ext cx="228589" cy="228623"/>
            <a:chOff x="1688332" y="4135245"/>
            <a:chExt cx="338700" cy="338700"/>
          </a:xfrm>
        </p:grpSpPr>
        <p:sp>
          <p:nvSpPr>
            <p:cNvPr id="566" name="Google Shape;566;p48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7" name="Google Shape;567;p48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8" name="Google Shape;568;p4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4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70" name="Google Shape;570;p4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571" name="Google Shape;571;p48"/>
          <p:cNvSpPr txBox="1"/>
          <p:nvPr>
            <p:ph idx="4294967295" type="subTitle"/>
          </p:nvPr>
        </p:nvSpPr>
        <p:spPr>
          <a:xfrm>
            <a:off x="1822950" y="521025"/>
            <a:ext cx="54981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</a:rPr>
              <a:t>Studio Chavelli</a:t>
            </a:r>
            <a:endParaRPr b="1" sz="24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</a:rPr>
              <a:t>Calligraphy &amp; Design Website</a:t>
            </a:r>
            <a:endParaRPr b="1" sz="2400">
              <a:solidFill>
                <a:schemeClr val="accent3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2" name="Google Shape;572;p48"/>
          <p:cNvSpPr txBox="1"/>
          <p:nvPr>
            <p:ph idx="1" type="subTitle"/>
          </p:nvPr>
        </p:nvSpPr>
        <p:spPr>
          <a:xfrm>
            <a:off x="843450" y="1669325"/>
            <a:ext cx="7363200" cy="28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300">
                <a:solidFill>
                  <a:schemeClr val="dk2"/>
                </a:solidFill>
              </a:rPr>
              <a:t>Key Feature</a:t>
            </a:r>
            <a:r>
              <a:rPr lang="en" sz="2300">
                <a:solidFill>
                  <a:schemeClr val="dk2"/>
                </a:solidFill>
              </a:rPr>
              <a:t>s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# Integrated typography and imagery</a:t>
            </a:r>
            <a:endParaRPr sz="23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2"/>
                </a:solidFill>
              </a:rPr>
              <a:t># Clear display of calligraphy and design projects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# Strong sense of artistic identity and branding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78" name="Google Shape;578;p4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79" name="Google Shape;579;p49"/>
          <p:cNvSpPr txBox="1"/>
          <p:nvPr>
            <p:ph type="title"/>
          </p:nvPr>
        </p:nvSpPr>
        <p:spPr>
          <a:xfrm>
            <a:off x="228600" y="228598"/>
            <a:ext cx="3655800" cy="917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Inspiration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Website</a:t>
            </a:r>
            <a:endParaRPr sz="2800"/>
          </a:p>
        </p:txBody>
      </p:sp>
      <p:sp>
        <p:nvSpPr>
          <p:cNvPr id="580" name="Google Shape;580;p49"/>
          <p:cNvSpPr txBox="1"/>
          <p:nvPr>
            <p:ph idx="1" type="subTitle"/>
          </p:nvPr>
        </p:nvSpPr>
        <p:spPr>
          <a:xfrm>
            <a:off x="2254800" y="2107200"/>
            <a:ext cx="4212300" cy="148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u="sng">
                <a:hlinkClick r:id="rId3"/>
              </a:rPr>
              <a:t>https://pin.it/iOb6BKTCj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grpSp>
        <p:nvGrpSpPr>
          <p:cNvPr id="581" name="Google Shape;581;p49"/>
          <p:cNvGrpSpPr/>
          <p:nvPr/>
        </p:nvGrpSpPr>
        <p:grpSpPr>
          <a:xfrm rot="5400000">
            <a:off x="4047475" y="1687191"/>
            <a:ext cx="228589" cy="228622"/>
            <a:chOff x="1688332" y="4135245"/>
            <a:chExt cx="338700" cy="338700"/>
          </a:xfrm>
        </p:grpSpPr>
        <p:sp>
          <p:nvSpPr>
            <p:cNvPr id="582" name="Google Shape;582;p49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83" name="Google Shape;583;p49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84" name="Google Shape;584;p4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4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86" name="Google Shape;586;p4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587" name="Google Shape;587;p49"/>
          <p:cNvSpPr txBox="1"/>
          <p:nvPr>
            <p:ph idx="4294967295" type="subTitle"/>
          </p:nvPr>
        </p:nvSpPr>
        <p:spPr>
          <a:xfrm>
            <a:off x="1412713" y="1003200"/>
            <a:ext cx="54981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</a:rPr>
              <a:t>Pinterest Collection</a:t>
            </a:r>
            <a:endParaRPr b="1" sz="2400">
              <a:solidFill>
                <a:schemeClr val="accent3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92" name="Google Shape;592;p50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50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PART 3: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Concept / Skill (COVERED)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94" name="Google Shape;594;p5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595" name="Google Shape;595;p5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96" name="Google Shape;596;p50"/>
          <p:cNvSpPr txBox="1"/>
          <p:nvPr>
            <p:ph idx="1" type="subTitle"/>
          </p:nvPr>
        </p:nvSpPr>
        <p:spPr>
          <a:xfrm>
            <a:off x="235575" y="228600"/>
            <a:ext cx="42159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Midterm Project - - Proposal Presentation</a:t>
            </a:r>
            <a:endParaRPr/>
          </a:p>
        </p:txBody>
      </p:sp>
      <p:sp>
        <p:nvSpPr>
          <p:cNvPr id="597" name="Google Shape;597;p5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1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03" name="Google Shape;603;p51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04" name="Google Shape;604;p51"/>
          <p:cNvSpPr txBox="1"/>
          <p:nvPr>
            <p:ph idx="8" type="subTitle"/>
          </p:nvPr>
        </p:nvSpPr>
        <p:spPr>
          <a:xfrm>
            <a:off x="235575" y="228600"/>
            <a:ext cx="3841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Concept / Skill (COVERED)</a:t>
            </a:r>
            <a:endParaRPr sz="2000"/>
          </a:p>
        </p:txBody>
      </p:sp>
      <p:sp>
        <p:nvSpPr>
          <p:cNvPr id="605" name="Google Shape;605;p51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606" name="Google Shape;606;p51"/>
          <p:cNvSpPr txBox="1"/>
          <p:nvPr/>
        </p:nvSpPr>
        <p:spPr>
          <a:xfrm>
            <a:off x="843575" y="1027075"/>
            <a:ext cx="7738200" cy="3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​​​​​​HTML Structure &amp; Content</a:t>
            </a:r>
            <a:endParaRPr b="1" sz="1800">
              <a:solidFill>
                <a:schemeClr val="accent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Using core tags such as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&lt;html&gt;, &lt;head&gt;, &lt;body&gt;, &lt;h1&gt;–&lt;h6&gt;, &lt;p&gt;, &lt;a&gt;, &lt;img&gt;, &lt;ul&gt;, &lt;ol&gt;, &lt;li&gt;.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Nesting elements properly and maintaining clean indentation..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headings to establish content hierarchy, inserting paragraphs, and adding links to internal and external pages.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Embedding images using the src attribute and working with self-closing tags like &lt;img /&gt;.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2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12" name="Google Shape;612;p5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13" name="Google Shape;613;p52"/>
          <p:cNvSpPr txBox="1"/>
          <p:nvPr>
            <p:ph idx="8" type="subTitle"/>
          </p:nvPr>
        </p:nvSpPr>
        <p:spPr>
          <a:xfrm>
            <a:off x="235575" y="228600"/>
            <a:ext cx="3841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Concept / Skill (COVERED)</a:t>
            </a:r>
            <a:endParaRPr sz="2000"/>
          </a:p>
        </p:txBody>
      </p:sp>
      <p:sp>
        <p:nvSpPr>
          <p:cNvPr id="614" name="Google Shape;614;p5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615" name="Google Shape;615;p52"/>
          <p:cNvSpPr txBox="1"/>
          <p:nvPr/>
        </p:nvSpPr>
        <p:spPr>
          <a:xfrm>
            <a:off x="702900" y="957025"/>
            <a:ext cx="77382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​​​​​​</a:t>
            </a:r>
            <a:r>
              <a:rPr b="1" lang="en" sz="180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Basic CSS Styling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Applying CSS to control layout and visual appearance.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Understanding the separation of HTML=content, CSS=style.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6" name="Google Shape;616;p52"/>
          <p:cNvSpPr txBox="1"/>
          <p:nvPr/>
        </p:nvSpPr>
        <p:spPr>
          <a:xfrm>
            <a:off x="702900" y="2104925"/>
            <a:ext cx="77382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​​​​​​Basic Forms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simple forms using &lt;form&gt;, &lt;label&gt;, &lt;input&gt; and attributes such as action, method, type, placeholder, and maxlength.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7" name="Google Shape;617;p52"/>
          <p:cNvSpPr txBox="1"/>
          <p:nvPr/>
        </p:nvSpPr>
        <p:spPr>
          <a:xfrm>
            <a:off x="702900" y="3433025"/>
            <a:ext cx="77382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​​​​​​Information Architecture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Building a sitemap to define site navigation.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Understanding how to logically group and categorize content.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622" name="Google Shape;622;p53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53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PART 4: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Concept / Skill (STILL LEARN)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24" name="Google Shape;624;p5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25" name="Google Shape;625;p5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26" name="Google Shape;626;p53"/>
          <p:cNvSpPr txBox="1"/>
          <p:nvPr>
            <p:ph idx="1" type="subTitle"/>
          </p:nvPr>
        </p:nvSpPr>
        <p:spPr>
          <a:xfrm>
            <a:off x="235575" y="228600"/>
            <a:ext cx="42159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Midterm Project - - Proposal Presentation</a:t>
            </a:r>
            <a:endParaRPr/>
          </a:p>
        </p:txBody>
      </p:sp>
      <p:sp>
        <p:nvSpPr>
          <p:cNvPr id="627" name="Google Shape;627;p5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4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33" name="Google Shape;633;p54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34" name="Google Shape;634;p54"/>
          <p:cNvSpPr txBox="1"/>
          <p:nvPr>
            <p:ph idx="8" type="subTitle"/>
          </p:nvPr>
        </p:nvSpPr>
        <p:spPr>
          <a:xfrm>
            <a:off x="235575" y="228600"/>
            <a:ext cx="3841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Concept / Skill (</a:t>
            </a:r>
            <a:r>
              <a:rPr lang="en" sz="2000"/>
              <a:t>STILL LEARN</a:t>
            </a:r>
            <a:r>
              <a:rPr lang="en" sz="2000"/>
              <a:t>)</a:t>
            </a:r>
            <a:endParaRPr sz="2000"/>
          </a:p>
        </p:txBody>
      </p:sp>
      <p:sp>
        <p:nvSpPr>
          <p:cNvPr id="635" name="Google Shape;635;p54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636" name="Google Shape;636;p54"/>
          <p:cNvSpPr txBox="1"/>
          <p:nvPr/>
        </p:nvSpPr>
        <p:spPr>
          <a:xfrm>
            <a:off x="702900" y="957025"/>
            <a:ext cx="7738200" cy="1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More Advanced CSS</a:t>
            </a:r>
            <a:endParaRPr b="1" sz="1800">
              <a:solidFill>
                <a:schemeClr val="accent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AutoNum type="arabicParenR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Layout techniques such as flexbox, grid, and responsive design.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AutoNum type="arabicParenR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a consistent design system: 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colors, fonts, margins, paddings, and typography.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AutoNum type="arabicParenR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Styling navigation menus and creating visually 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appealing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galleries.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7" name="Google Shape;637;p54"/>
          <p:cNvSpPr txBox="1"/>
          <p:nvPr/>
        </p:nvSpPr>
        <p:spPr>
          <a:xfrm>
            <a:off x="702900" y="3065350"/>
            <a:ext cx="7738200" cy="1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Website Deployment</a:t>
            </a:r>
            <a:endParaRPr b="1" sz="1800">
              <a:solidFill>
                <a:schemeClr val="accent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AutoNum type="arabicParenR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Learn how to 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publish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the website online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642" name="Google Shape;642;p55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55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PART 5: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Wireframe</a:t>
            </a:r>
            <a:r>
              <a:rPr lang="en">
                <a:solidFill>
                  <a:schemeClr val="dk2"/>
                </a:solidFill>
              </a:rPr>
              <a:t> &amp; </a:t>
            </a:r>
            <a:r>
              <a:rPr lang="en">
                <a:solidFill>
                  <a:schemeClr val="dk2"/>
                </a:solidFill>
              </a:rPr>
              <a:t>Sitemap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44" name="Google Shape;644;p5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45" name="Google Shape;645;p5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46" name="Google Shape;646;p55"/>
          <p:cNvSpPr txBox="1"/>
          <p:nvPr>
            <p:ph idx="1" type="subTitle"/>
          </p:nvPr>
        </p:nvSpPr>
        <p:spPr>
          <a:xfrm>
            <a:off x="235575" y="228600"/>
            <a:ext cx="42159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Midterm Project - - Proposal Presentation</a:t>
            </a:r>
            <a:endParaRPr/>
          </a:p>
        </p:txBody>
      </p:sp>
      <p:sp>
        <p:nvSpPr>
          <p:cNvPr id="647" name="Google Shape;647;p5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53" name="Google Shape;653;p5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54" name="Google Shape;654;p56"/>
          <p:cNvSpPr txBox="1"/>
          <p:nvPr>
            <p:ph idx="8" type="subTitle"/>
          </p:nvPr>
        </p:nvSpPr>
        <p:spPr>
          <a:xfrm>
            <a:off x="235575" y="228600"/>
            <a:ext cx="3841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Wireframe</a:t>
            </a:r>
            <a:endParaRPr sz="2900"/>
          </a:p>
        </p:txBody>
      </p:sp>
      <p:sp>
        <p:nvSpPr>
          <p:cNvPr id="655" name="Google Shape;655;p5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pic>
        <p:nvPicPr>
          <p:cNvPr id="656" name="Google Shape;656;p56" title="Screenshot 2026-02-11 at 15.37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250" y="0"/>
            <a:ext cx="5206400" cy="468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62" name="Google Shape;662;p5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63" name="Google Shape;663;p57"/>
          <p:cNvSpPr txBox="1"/>
          <p:nvPr>
            <p:ph idx="8" type="subTitle"/>
          </p:nvPr>
        </p:nvSpPr>
        <p:spPr>
          <a:xfrm>
            <a:off x="235575" y="228600"/>
            <a:ext cx="3841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Sitemap</a:t>
            </a:r>
            <a:endParaRPr sz="2900"/>
          </a:p>
        </p:txBody>
      </p:sp>
      <p:sp>
        <p:nvSpPr>
          <p:cNvPr id="664" name="Google Shape;664;p5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NYU TANDON IDM WEBDEV_SPRING 26</a:t>
            </a:r>
            <a:endParaRPr/>
          </a:p>
        </p:txBody>
      </p:sp>
      <p:pic>
        <p:nvPicPr>
          <p:cNvPr id="665" name="Google Shape;665;p57" title="Screenshot 2026-02-11 at 16.59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250" y="0"/>
            <a:ext cx="5567050" cy="46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8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671" name="Google Shape;671;p58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672" name="Google Shape;672;p5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73" name="Google Shape;673;p5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74" name="Google Shape;674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" name="Google Shape;675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76" name="Google Shape;676;p58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Midterm Project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- -Proposal Presentation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7" name="Google Shape;677;p58"/>
          <p:cNvSpPr txBox="1"/>
          <p:nvPr>
            <p:ph idx="1" type="subTitle"/>
          </p:nvPr>
        </p:nvSpPr>
        <p:spPr>
          <a:xfrm>
            <a:off x="228600" y="1738950"/>
            <a:ext cx="5565600" cy="380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NYU Tandon IDM Web Development Spring 2026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78" name="Google Shape;678;p5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NYU TANDON IDM WEBDEV_SPRING 26</a:t>
            </a:r>
            <a:endParaRPr/>
          </a:p>
        </p:txBody>
      </p:sp>
      <p:sp>
        <p:nvSpPr>
          <p:cNvPr id="679" name="Google Shape;679;p5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</a:t>
            </a:r>
            <a:endParaRPr/>
          </a:p>
        </p:txBody>
      </p:sp>
      <p:sp>
        <p:nvSpPr>
          <p:cNvPr id="680" name="Google Shape;680;p5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81" name="Google Shape;681;p58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Ding. Andy</a:t>
            </a:r>
            <a:endParaRPr sz="1600"/>
          </a:p>
        </p:txBody>
      </p:sp>
      <p:sp>
        <p:nvSpPr>
          <p:cNvPr id="682" name="Google Shape;682;p58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 19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8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